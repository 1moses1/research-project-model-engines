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64592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58368" y="713232"/>
            <a:ext cx="73152" cy="438912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749808"/>
            <a:ext cx="9875520" cy="21488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Aptos"/>
              </a:rPr>
              <a:t>AI-Augmented
Compliance Auditing
for Cloud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971800"/>
            <a:ext cx="987552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900" b="0" i="0">
                <a:solidFill>
                  <a:srgbClr val="B9D9F2"/>
                </a:solidFill>
                <a:latin typeface="Aptos"/>
              </a:rPr>
              <a:t>A hybrid ML-LLM approach for Rwanda NCSA controls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703320"/>
            <a:ext cx="86868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 i="0">
                <a:solidFill>
                  <a:srgbClr val="C9D4DF"/>
                </a:solidFill>
                <a:latin typeface="Aptos"/>
              </a:rPr>
              <a:t>Research Project Course Presentation | May 06,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" y="5074920"/>
            <a:ext cx="5669280" cy="56692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Moise Iradukunda Ingabire
MSIT, Carnegie Mellon University Africa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5074920"/>
            <a:ext cx="4937760" cy="6583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0" i="0">
                <a:solidFill>
                  <a:srgbClr val="DDE8F4"/>
                </a:solidFill>
                <a:latin typeface="Aptos"/>
              </a:rPr>
              <a:t>Supervisor: Prof. Jema David Ndibwile
Manuscript status: submitted to Future Internet; under peer review / major revision refresh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84280" y="6419088"/>
            <a:ext cx="45720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1000" b="0" i="0">
                <a:solidFill>
                  <a:srgbClr val="C9D4DF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0E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ptos"/>
              </a:rPr>
              <a:t>Today's story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530352"/>
            <a:ext cx="98755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 i="0">
                <a:solidFill>
                  <a:srgbClr val="B9C7D8"/>
                </a:solidFill>
                <a:latin typeface="Aptos"/>
              </a:rPr>
              <a:t>Keep the talk anchored on the new validated results, not the stale abstract numbers.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417320"/>
            <a:ext cx="2514600" cy="329184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664208"/>
            <a:ext cx="502920" cy="502920"/>
          </a:xfrm>
          <a:prstGeom prst="round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41832" y="1764792"/>
            <a:ext cx="2743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1248" y="2395728"/>
            <a:ext cx="21031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 i="0">
                <a:solidFill>
                  <a:srgbClr val="161A23"/>
                </a:solidFill>
                <a:latin typeface="Aptos"/>
              </a:rPr>
              <a:t>Problem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852928"/>
            <a:ext cx="2057400" cy="10058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 i="0">
                <a:solidFill>
                  <a:srgbClr val="5B6673"/>
                </a:solidFill>
                <a:latin typeface="Aptos"/>
              </a:rPr>
              <a:t>Audits verify presence, not whether controls work.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1417320"/>
            <a:ext cx="2514600" cy="329184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657600" y="1664208"/>
            <a:ext cx="502920" cy="502920"/>
          </a:xfrm>
          <a:prstGeom prst="round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76472" y="1764792"/>
            <a:ext cx="2743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75888" y="2395728"/>
            <a:ext cx="21031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 i="0">
                <a:solidFill>
                  <a:srgbClr val="161A23"/>
                </a:solidFill>
                <a:latin typeface="Aptos"/>
              </a:rPr>
              <a:t>Gap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75888" y="2852928"/>
            <a:ext cx="2057400" cy="10058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 i="0">
                <a:solidFill>
                  <a:srgbClr val="5B6673"/>
                </a:solidFill>
                <a:latin typeface="Aptos"/>
              </a:rPr>
              <a:t>Vocabulary-based ML collapses across log formats.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1417320"/>
            <a:ext cx="2514600" cy="329184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92240" y="1664208"/>
            <a:ext cx="502920" cy="50292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11112" y="1764792"/>
            <a:ext cx="2743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395728"/>
            <a:ext cx="21031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 i="0">
                <a:solidFill>
                  <a:srgbClr val="161A23"/>
                </a:solidFill>
                <a:latin typeface="Aptos"/>
              </a:rPr>
              <a:t>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852928"/>
            <a:ext cx="2057400" cy="10058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 i="0">
                <a:solidFill>
                  <a:srgbClr val="5B6673"/>
                </a:solidFill>
                <a:latin typeface="Aptos"/>
              </a:rPr>
              <a:t>Hybrid XGBoost + LLM + deterministic decision engine.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144000" y="1417320"/>
            <a:ext cx="2514600" cy="329184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326880" y="1664208"/>
            <a:ext cx="502920" cy="502920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445752" y="1764792"/>
            <a:ext cx="2743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45168" y="2395728"/>
            <a:ext cx="21031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800" b="1" i="0">
                <a:solidFill>
                  <a:srgbClr val="161A23"/>
                </a:solidFill>
                <a:latin typeface="Aptos"/>
              </a:rPr>
              <a:t>Evidence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45168" y="2852928"/>
            <a:ext cx="2057400" cy="10058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00" b="0" i="0">
                <a:solidFill>
                  <a:srgbClr val="5B6673"/>
                </a:solidFill>
                <a:latin typeface="Aptos"/>
              </a:rPr>
              <a:t>Clean XGBoost, n=800 LLM eval, 5 MITRE scenarios.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5285232"/>
            <a:ext cx="10241280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800" b="1" i="0">
                <a:solidFill>
                  <a:srgbClr val="0E1B2A"/>
                </a:solidFill>
                <a:latin typeface="Aptos"/>
              </a:rPr>
              <a:t>One-line thesis: The contribution is an honest, low-cost hybrid architecture that detects domain shift and routes evidence to the right analysis path.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50" b="0" i="0">
                <a:solidFill>
                  <a:srgbClr val="5B6673"/>
                </a:solidFill>
                <a:latin typeface="Aptos"/>
              </a:rPr>
              <a:t>AI-Augmented Compliance Auditing | Research Project Course | Moise Iradukunda Ingabire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6400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 i="0">
                <a:solidFill>
                  <a:srgbClr val="5B6673"/>
                </a:solidFill>
                <a:latin typeface="Aptos"/>
              </a:rPr>
              <a:t>2/15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0E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ptos"/>
              </a:rPr>
              <a:t>Research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530352"/>
            <a:ext cx="98755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 i="0">
                <a:solidFill>
                  <a:srgbClr val="B9C7D8"/>
                </a:solidFill>
                <a:latin typeface="Aptos"/>
              </a:rPr>
              <a:t>Manual compliance auditing is slow, expensive, and often checkbox-driven.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2606040" cy="132588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6384" y="1344168"/>
            <a:ext cx="23317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 i="0">
                <a:solidFill>
                  <a:srgbClr val="161A23"/>
                </a:solidFill>
                <a:latin typeface="Aptos"/>
              </a:rPr>
              <a:t>Audit burden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" y="1618488"/>
            <a:ext cx="233172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 i="0">
                <a:solidFill>
                  <a:srgbClr val="C41230"/>
                </a:solidFill>
                <a:latin typeface="Aptos"/>
              </a:rPr>
              <a:t>1000+ 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075688"/>
            <a:ext cx="23317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50" b="0" i="0">
                <a:solidFill>
                  <a:srgbClr val="5B6673"/>
                </a:solidFill>
                <a:latin typeface="Aptos"/>
              </a:rPr>
              <a:t>reported annual manual audit effort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37560" y="1234440"/>
            <a:ext cx="2606040" cy="132588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83864" y="1344168"/>
            <a:ext cx="23317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 i="0">
                <a:solidFill>
                  <a:srgbClr val="161A23"/>
                </a:solidFill>
                <a:latin typeface="Aptos"/>
              </a:rPr>
              <a:t>Budget pressure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83864" y="1618488"/>
            <a:ext cx="233172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 i="0">
                <a:solidFill>
                  <a:srgbClr val="1F6FB2"/>
                </a:solidFill>
                <a:latin typeface="Aptos"/>
              </a:rPr>
              <a:t>40%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83864" y="2075688"/>
            <a:ext cx="23317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50" b="0" i="0">
                <a:solidFill>
                  <a:srgbClr val="5B6673"/>
                </a:solidFill>
                <a:latin typeface="Aptos"/>
              </a:rPr>
              <a:t>IT security budget consumed by compliance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35040" y="1234440"/>
            <a:ext cx="2606040" cy="132588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1B7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1344" y="1344168"/>
            <a:ext cx="23317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 i="0">
                <a:solidFill>
                  <a:srgbClr val="161A23"/>
                </a:solidFill>
                <a:latin typeface="Aptos"/>
              </a:rPr>
              <a:t>Control scope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1344" y="1618488"/>
            <a:ext cx="233172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 i="0">
                <a:solidFill>
                  <a:srgbClr val="1B7F4D"/>
                </a:solidFill>
                <a:latin typeface="Aptos"/>
              </a:rPr>
              <a:t>143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1344" y="2075688"/>
            <a:ext cx="23317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50" b="0" i="0">
                <a:solidFill>
                  <a:srgbClr val="5B6673"/>
                </a:solidFill>
                <a:latin typeface="Aptos"/>
              </a:rPr>
              <a:t>Rwanda NCSA controls modeled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732520" y="1234440"/>
            <a:ext cx="2606040" cy="132588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78824" y="1344168"/>
            <a:ext cx="23317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 i="0">
                <a:solidFill>
                  <a:srgbClr val="161A23"/>
                </a:solidFill>
                <a:latin typeface="Aptos"/>
              </a:rPr>
              <a:t>Core flaw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78824" y="1618488"/>
            <a:ext cx="233172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  <a:latin typeface="Aptos"/>
              </a:rPr>
              <a:t>Presence != Effectiveness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78824" y="2075688"/>
            <a:ext cx="23317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50" b="0" i="0">
                <a:solidFill>
                  <a:srgbClr val="5B6673"/>
                </a:solidFill>
                <a:latin typeface="Aptos"/>
              </a:rPr>
              <a:t>installed controls can still fail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063240"/>
            <a:ext cx="31089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000" b="1" i="0">
                <a:solidFill>
                  <a:srgbClr val="161A23"/>
                </a:solidFill>
                <a:latin typeface="Aptos"/>
              </a:rPr>
              <a:t>Why this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3520440"/>
            <a:ext cx="4754880" cy="1463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0" i="0">
                <a:solidFill>
                  <a:srgbClr val="5B6673"/>
                </a:solidFill>
                <a:latin typeface="Aptos"/>
              </a:rPr>
              <a:t>A firewall, WAF, or EDR can be present but fail against real attack behavior. The research asks how to move from checkbox compliance to measured control effectiveness.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3063240"/>
            <a:ext cx="310896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000" b="1" i="0">
                <a:solidFill>
                  <a:srgbClr val="161A23"/>
                </a:solidFill>
                <a:latin typeface="Aptos"/>
              </a:rPr>
              <a:t>Research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00800" y="3520440"/>
            <a:ext cx="4709160" cy="1463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0" i="0">
                <a:solidFill>
                  <a:srgbClr val="5B6673"/>
                </a:solidFill>
                <a:latin typeface="Aptos"/>
              </a:rPr>
              <a:t>Can a low-cost hybrid ML-LLM auditor map heterogeneous evidence to Rwanda NCSA controls and expose effectiveness gaps under realistic logs and adversarial tests?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50" b="0" i="0">
                <a:solidFill>
                  <a:srgbClr val="5B6673"/>
                </a:solidFill>
                <a:latin typeface="Aptos"/>
              </a:rPr>
              <a:t>AI-Augmented Compliance Auditing | Research Project Course | Moise Iradukunda Ingabire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73952"/>
            <a:ext cx="6400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 i="0">
                <a:solidFill>
                  <a:srgbClr val="5B6673"/>
                </a:solidFill>
                <a:latin typeface="Aptos"/>
              </a:rPr>
              <a:t>3/15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0E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ptos"/>
              </a:rPr>
              <a:t>Literature review: what is missing?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530352"/>
            <a:ext cx="98755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 i="0">
                <a:solidFill>
                  <a:srgbClr val="B9C7D8"/>
                </a:solidFill>
                <a:latin typeface="Aptos"/>
              </a:rPr>
              <a:t>Existing tools solve pieces; few combine evidence mapping, semantic logs, and adversarial effectiveness.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143000"/>
          <a:ext cx="10972800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  <a:gridCol w="3657600"/>
              </a:tblGrid>
              <a:tr h="57912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tos"/>
                        </a:rPr>
                        <a:t>Approach</a:t>
                      </a:r>
                    </a:p>
                  </a:txBody>
                  <a:tcPr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tos"/>
                        </a:rPr>
                        <a:t>Strength</a:t>
                      </a:r>
                    </a:p>
                  </a:txBody>
                  <a:tcPr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tos"/>
                        </a:rPr>
                        <a:t>Gap addressed</a:t>
                      </a:r>
                    </a:p>
                  </a:txBody>
                  <a:tcPr>
                    <a:solidFill>
                      <a:srgbClr val="0E1B2A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OpenSCAP / CIS-CAT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Rule checks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No semantic/OOD log reasoning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Wazuh / SIEM rules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Operational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Limited regulatory effectiveness scoring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BERT / LSTM log ML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High accuracy in-domain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GPU and domain-shift costs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Commercial GRC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Workflow management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High cost; little adversarial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This research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Hybrid ML-LLM + NCSA mapping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Still needs institutional pilot validation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4937760"/>
            <a:ext cx="10058400" cy="6858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800" b="1" i="0">
                <a:solidFill>
                  <a:srgbClr val="0E1B2A"/>
                </a:solidFill>
                <a:latin typeface="Aptos"/>
              </a:rPr>
              <a:t>Positioning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513832"/>
            <a:ext cx="9692640" cy="4572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400" b="0" i="0">
                <a:solidFill>
                  <a:srgbClr val="5B6673"/>
                </a:solidFill>
                <a:latin typeface="Aptos"/>
              </a:rPr>
              <a:t>The work is strongest when framed as a reference architecture and validation pipeline for resource-constrained national compliance programs, piloting from Rwanda NCSA.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50" b="0" i="0">
                <a:solidFill>
                  <a:srgbClr val="5B6673"/>
                </a:solidFill>
                <a:latin typeface="Aptos"/>
              </a:rPr>
              <a:t>AI-Augmented Compliance Auditing | Research Project Course | Moise Iradukunda Ingabire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6400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 i="0">
                <a:solidFill>
                  <a:srgbClr val="5B6673"/>
                </a:solidFill>
                <a:latin typeface="Aptos"/>
              </a:rPr>
              <a:t>4/15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0E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ptos"/>
              </a:rPr>
              <a:t>Control taxonomy and evidence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530352"/>
            <a:ext cx="98755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 i="0">
                <a:solidFill>
                  <a:srgbClr val="B9C7D8"/>
                </a:solidFill>
                <a:latin typeface="Aptos"/>
              </a:rPr>
              <a:t>The taxonomy is the bridge between raw logs and trainable compliance labels.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34440"/>
            <a:ext cx="3246120" cy="91440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50392" y="1435608"/>
            <a:ext cx="502920" cy="502920"/>
          </a:xfrm>
          <a:prstGeom prst="round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1545336"/>
            <a:ext cx="429768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AC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08760" y="1399032"/>
            <a:ext cx="224028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20" b="1" i="0">
                <a:solidFill>
                  <a:srgbClr val="161A23"/>
                </a:solidFill>
                <a:latin typeface="Aptos"/>
              </a:rPr>
              <a:t>Access Control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08760" y="1764792"/>
            <a:ext cx="224028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0" i="0">
                <a:solidFill>
                  <a:srgbClr val="5B6673"/>
                </a:solidFill>
                <a:latin typeface="Aptos"/>
              </a:rPr>
              <a:t>52 controls | 35 system-auditable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07992" y="1234440"/>
            <a:ext cx="3246120" cy="91440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1B7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672584" y="1435608"/>
            <a:ext cx="502920" cy="502920"/>
          </a:xfrm>
          <a:prstGeom prst="roundRect">
            <a:avLst/>
          </a:prstGeom>
          <a:solidFill>
            <a:srgbClr val="1B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09160" y="1545336"/>
            <a:ext cx="429768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30952" y="1399032"/>
            <a:ext cx="224028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20" b="1" i="0">
                <a:solidFill>
                  <a:srgbClr val="161A23"/>
                </a:solidFill>
                <a:latin typeface="Aptos"/>
              </a:rPr>
              <a:t>Audit &amp; Accountability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0952" y="1764792"/>
            <a:ext cx="224028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0" i="0">
                <a:solidFill>
                  <a:srgbClr val="5B6673"/>
                </a:solidFill>
                <a:latin typeface="Aptos"/>
              </a:rPr>
              <a:t>30 controls | 22 system-auditable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0183" y="1234440"/>
            <a:ext cx="3246120" cy="91440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94775" y="1435608"/>
            <a:ext cx="502920" cy="50292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31351" y="1545336"/>
            <a:ext cx="429768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CM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53143" y="1399032"/>
            <a:ext cx="224028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20" b="1" i="0">
                <a:solidFill>
                  <a:srgbClr val="161A23"/>
                </a:solidFill>
                <a:latin typeface="Aptos"/>
              </a:rPr>
              <a:t>Configuration Mgmt.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53143" y="1764792"/>
            <a:ext cx="224028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0" i="0">
                <a:solidFill>
                  <a:srgbClr val="5B6673"/>
                </a:solidFill>
                <a:latin typeface="Aptos"/>
              </a:rPr>
              <a:t>18 controls | 12 system-auditable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5800" y="2468880"/>
            <a:ext cx="3246120" cy="91440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0E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50392" y="2670048"/>
            <a:ext cx="502920" cy="502920"/>
          </a:xfrm>
          <a:prstGeom prst="round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86968" y="2779776"/>
            <a:ext cx="429768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508760" y="2633472"/>
            <a:ext cx="224028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20" b="1" i="0">
                <a:solidFill>
                  <a:srgbClr val="161A23"/>
                </a:solidFill>
                <a:latin typeface="Aptos"/>
              </a:rPr>
              <a:t>Identity/Auth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08760" y="2999232"/>
            <a:ext cx="224028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0" i="0">
                <a:solidFill>
                  <a:srgbClr val="5B6673"/>
                </a:solidFill>
                <a:latin typeface="Aptos"/>
              </a:rPr>
              <a:t>15 controls | 10 system-auditable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07992" y="2468880"/>
            <a:ext cx="3246120" cy="91440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672584" y="2670048"/>
            <a:ext cx="502920" cy="502920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09160" y="2779776"/>
            <a:ext cx="429768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SC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30952" y="2633472"/>
            <a:ext cx="224028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20" b="1" i="0">
                <a:solidFill>
                  <a:srgbClr val="161A23"/>
                </a:solidFill>
                <a:latin typeface="Aptos"/>
              </a:rPr>
              <a:t>System/Comm. Protection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330952" y="2999232"/>
            <a:ext cx="224028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0" i="0">
                <a:solidFill>
                  <a:srgbClr val="5B6673"/>
                </a:solidFill>
                <a:latin typeface="Aptos"/>
              </a:rPr>
              <a:t>26 controls | 15 system-auditable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30183" y="2468880"/>
            <a:ext cx="3246120" cy="91440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F3B61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494775" y="2670048"/>
            <a:ext cx="502920" cy="502920"/>
          </a:xfrm>
          <a:prstGeom prst="roundRect">
            <a:avLst/>
          </a:prstGeom>
          <a:solidFill>
            <a:srgbClr val="F3B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31351" y="2779776"/>
            <a:ext cx="429768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Aptos"/>
              </a:rPr>
              <a:t>SI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53143" y="2633472"/>
            <a:ext cx="224028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20" b="1" i="0">
                <a:solidFill>
                  <a:srgbClr val="161A23"/>
                </a:solidFill>
                <a:latin typeface="Aptos"/>
              </a:rPr>
              <a:t>System Integrity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153143" y="2999232"/>
            <a:ext cx="224028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00" b="0" i="0">
                <a:solidFill>
                  <a:srgbClr val="5B6673"/>
                </a:solidFill>
                <a:latin typeface="Aptos"/>
              </a:rPr>
              <a:t>2 controls | 2 system-auditable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05840" y="4114800"/>
            <a:ext cx="10149840" cy="1234440"/>
          </a:xfrm>
          <a:prstGeom prst="roundRect">
            <a:avLst/>
          </a:prstGeom>
          <a:solidFill>
            <a:srgbClr val="0E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4440" y="4334256"/>
            <a:ext cx="3749039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Aptos"/>
              </a:rPr>
              <a:t>Training mapping example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34440" y="4736592"/>
            <a:ext cx="9418320" cy="25603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50" b="0" i="0">
                <a:solidFill>
                  <a:srgbClr val="D2E5F6"/>
                </a:solidFill>
                <a:latin typeface="Aptos"/>
              </a:rPr>
              <a:t>Failed SSH login -&gt; AC-7 lockout, IA-2 authentication, AU-2 audit event, SI-4 monitoring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34440" y="5047488"/>
            <a:ext cx="94183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 i="0">
                <a:solidFill>
                  <a:srgbClr val="B9C7D8"/>
                </a:solidFill>
                <a:latin typeface="Aptos"/>
              </a:rPr>
              <a:t>One log can activate multiple controls; binary labels lose compliance structure.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50" b="0" i="0">
                <a:solidFill>
                  <a:srgbClr val="5B6673"/>
                </a:solidFill>
                <a:latin typeface="Aptos"/>
              </a:rPr>
              <a:t>AI-Augmented Compliance Auditing | Research Project Course | Moise Iradukunda Ingabire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473952"/>
            <a:ext cx="6400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 i="0">
                <a:solidFill>
                  <a:srgbClr val="5B6673"/>
                </a:solidFill>
                <a:latin typeface="Aptos"/>
              </a:rPr>
              <a:t>5/15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0E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ptos"/>
              </a:rPr>
              <a:t>Proposed research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530352"/>
            <a:ext cx="98755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 i="0">
                <a:solidFill>
                  <a:srgbClr val="B9C7D8"/>
                </a:solidFill>
                <a:latin typeface="Aptos"/>
              </a:rPr>
              <a:t>Use the right analysis path for the right evidence type.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240280"/>
            <a:ext cx="1463040" cy="1051560"/>
          </a:xfrm>
          <a:prstGeom prst="round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36576"/>
          <a:lstStyle/>
          <a:p>
            <a:pPr algn="ctr"/>
            <a:r>
              <a:rPr sz="1360" b="1">
                <a:solidFill>
                  <a:srgbClr val="FFFFFF"/>
                </a:solidFill>
                <a:latin typeface="Aptos"/>
              </a:rPr>
              <a:t>Evidence
Sources</a:t>
            </a:r>
          </a:p>
          <a:p>
            <a:pPr algn="ctr">
              <a:spcBef>
                <a:spcPts val="500"/>
              </a:spcBef>
            </a:pPr>
            <a:r>
              <a:rPr sz="819">
                <a:solidFill>
                  <a:srgbClr val="FFFFFF"/>
                </a:solidFill>
                <a:latin typeface="Aptos"/>
              </a:rPr>
              <a:t>syslog / Windows
HTTP / docs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331720" y="2240280"/>
            <a:ext cx="1463040" cy="1051560"/>
          </a:xfrm>
          <a:prstGeom prst="round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36576"/>
          <a:lstStyle/>
          <a:p>
            <a:pPr algn="ctr"/>
            <a:r>
              <a:rPr sz="1360" b="1">
                <a:solidFill>
                  <a:srgbClr val="FFFFFF"/>
                </a:solidFill>
                <a:latin typeface="Aptos"/>
              </a:rPr>
              <a:t>Normalize +
Enrich</a:t>
            </a:r>
          </a:p>
          <a:p>
            <a:pPr algn="ctr">
              <a:spcBef>
                <a:spcPts val="500"/>
              </a:spcBef>
            </a:pPr>
            <a:r>
              <a:rPr sz="819">
                <a:solidFill>
                  <a:srgbClr val="FFFFFF"/>
                </a:solidFill>
                <a:latin typeface="Aptos"/>
              </a:rPr>
              <a:t>EventID -&gt; meaning
fields -&gt; context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60520" y="2240280"/>
            <a:ext cx="1417320" cy="105156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36576"/>
          <a:lstStyle/>
          <a:p>
            <a:pPr algn="ctr"/>
            <a:r>
              <a:rPr sz="1280" b="1">
                <a:solidFill>
                  <a:srgbClr val="FFFFFF"/>
                </a:solidFill>
                <a:latin typeface="Aptos"/>
              </a:rPr>
              <a:t>Router</a:t>
            </a:r>
          </a:p>
          <a:p>
            <a:pPr algn="ctr">
              <a:spcBef>
                <a:spcPts val="500"/>
              </a:spcBef>
            </a:pPr>
            <a:r>
              <a:rPr sz="819">
                <a:solidFill>
                  <a:srgbClr val="FFFFFF"/>
                </a:solidFill>
                <a:latin typeface="Aptos"/>
              </a:rPr>
              <a:t>coverage +
confidence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1508760"/>
            <a:ext cx="1417320" cy="1005840"/>
          </a:xfrm>
          <a:prstGeom prst="roundRect">
            <a:avLst/>
          </a:prstGeom>
          <a:solidFill>
            <a:srgbClr val="1B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36576"/>
          <a:lstStyle/>
          <a:p>
            <a:pPr algn="ctr"/>
            <a:r>
              <a:rPr sz="1280" b="1">
                <a:solidFill>
                  <a:srgbClr val="FFFFFF"/>
                </a:solidFill>
                <a:latin typeface="Aptos"/>
              </a:rPr>
              <a:t>XGBoost v2</a:t>
            </a:r>
          </a:p>
          <a:p>
            <a:pPr algn="ctr">
              <a:spcBef>
                <a:spcPts val="500"/>
              </a:spcBef>
            </a:pPr>
            <a:r>
              <a:rPr sz="819">
                <a:solidFill>
                  <a:srgbClr val="FFFFFF"/>
                </a:solidFill>
                <a:latin typeface="Aptos"/>
              </a:rPr>
              <a:t>structured
in-vocab logs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2200" y="3063240"/>
            <a:ext cx="1417320" cy="1005840"/>
          </a:xfrm>
          <a:prstGeom prst="round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36576"/>
          <a:lstStyle/>
          <a:p>
            <a:pPr algn="ctr"/>
            <a:r>
              <a:rPr sz="1280" b="1">
                <a:solidFill>
                  <a:srgbClr val="FFFFFF"/>
                </a:solidFill>
                <a:latin typeface="Aptos"/>
              </a:rPr>
              <a:t>LLM Analyzer</a:t>
            </a:r>
          </a:p>
          <a:p>
            <a:pPr algn="ctr">
              <a:spcBef>
                <a:spcPts val="500"/>
              </a:spcBef>
            </a:pPr>
            <a:r>
              <a:rPr sz="819">
                <a:solidFill>
                  <a:srgbClr val="FFFFFF"/>
                </a:solidFill>
                <a:latin typeface="Aptos"/>
              </a:rPr>
              <a:t>ambiguous / OOD
semantic logs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240280"/>
            <a:ext cx="1508760" cy="1051560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36576"/>
          <a:lstStyle/>
          <a:p>
            <a:pPr algn="ctr"/>
            <a:r>
              <a:rPr sz="1360" b="1">
                <a:solidFill>
                  <a:srgbClr val="FFFFFF"/>
                </a:solidFill>
                <a:latin typeface="Aptos"/>
              </a:rPr>
              <a:t>Decision
Engine</a:t>
            </a:r>
          </a:p>
          <a:p>
            <a:pPr algn="ctr">
              <a:spcBef>
                <a:spcPts val="500"/>
              </a:spcBef>
            </a:pPr>
            <a:r>
              <a:rPr sz="819">
                <a:solidFill>
                  <a:srgbClr val="FFFFFF"/>
                </a:solidFill>
                <a:latin typeface="Aptos"/>
              </a:rPr>
              <a:t>NCSA thresholds
3-way status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287000" y="2240280"/>
            <a:ext cx="1325880" cy="1051560"/>
          </a:xfrm>
          <a:prstGeom prst="roundRect">
            <a:avLst/>
          </a:prstGeom>
          <a:solidFill>
            <a:srgbClr val="0E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bIns="36576"/>
          <a:lstStyle/>
          <a:p>
            <a:pPr algn="ctr"/>
            <a:r>
              <a:rPr sz="1280" b="1">
                <a:solidFill>
                  <a:srgbClr val="FFFFFF"/>
                </a:solidFill>
                <a:latin typeface="Aptos"/>
              </a:rPr>
              <a:t>Audit
Report</a:t>
            </a:r>
          </a:p>
          <a:p>
            <a:pPr algn="ctr">
              <a:spcBef>
                <a:spcPts val="500"/>
              </a:spcBef>
            </a:pPr>
            <a:r>
              <a:rPr sz="819">
                <a:solidFill>
                  <a:srgbClr val="FFFFFF"/>
                </a:solidFill>
                <a:latin typeface="Aptos"/>
              </a:rPr>
              <a:t>evidence, gaps
remediation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965960" y="2766060"/>
            <a:ext cx="365760" cy="0"/>
          </a:xfrm>
          <a:prstGeom prst="line">
            <a:avLst/>
          </a:prstGeom>
          <a:ln w="28575">
            <a:solidFill>
              <a:srgbClr val="161A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3794760" y="2766060"/>
            <a:ext cx="365760" cy="0"/>
          </a:xfrm>
          <a:prstGeom prst="line">
            <a:avLst/>
          </a:prstGeom>
          <a:ln w="28575">
            <a:solidFill>
              <a:srgbClr val="161A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 flipV="1">
            <a:off x="5577840" y="2011680"/>
            <a:ext cx="594360" cy="754380"/>
          </a:xfrm>
          <a:prstGeom prst="line">
            <a:avLst/>
          </a:prstGeom>
          <a:ln w="28575">
            <a:solidFill>
              <a:srgbClr val="161A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5577840" y="2766060"/>
            <a:ext cx="594360" cy="800100"/>
          </a:xfrm>
          <a:prstGeom prst="line">
            <a:avLst/>
          </a:prstGeom>
          <a:ln w="28575">
            <a:solidFill>
              <a:srgbClr val="161A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7589520" y="2011680"/>
            <a:ext cx="640080" cy="754380"/>
          </a:xfrm>
          <a:prstGeom prst="line">
            <a:avLst/>
          </a:prstGeom>
          <a:ln w="28575">
            <a:solidFill>
              <a:srgbClr val="161A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7589520" y="2766060"/>
            <a:ext cx="640080" cy="800100"/>
          </a:xfrm>
          <a:prstGeom prst="line">
            <a:avLst/>
          </a:prstGeom>
          <a:ln w="28575">
            <a:solidFill>
              <a:srgbClr val="161A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>
            <a:off x="9738360" y="2766060"/>
            <a:ext cx="548640" cy="0"/>
          </a:xfrm>
          <a:prstGeom prst="line">
            <a:avLst/>
          </a:prstGeom>
          <a:ln w="28575">
            <a:solidFill>
              <a:srgbClr val="161A2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051560" y="4754880"/>
            <a:ext cx="10058400" cy="960120"/>
          </a:xfrm>
          <a:prstGeom prst="roundRect">
            <a:avLst/>
          </a:prstGeom>
          <a:solidFill>
            <a:srgbClr val="F4F6F8"/>
          </a:solidFill>
          <a:ln w="1397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25880" y="4956048"/>
            <a:ext cx="283464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 i="0">
                <a:solidFill>
                  <a:srgbClr val="161A23"/>
                </a:solidFill>
                <a:latin typeface="Aptos"/>
              </a:rPr>
              <a:t>Core research claim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321808"/>
            <a:ext cx="896112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50" b="0" i="0">
                <a:solidFill>
                  <a:srgbClr val="5B6673"/>
                </a:solidFill>
                <a:latin typeface="Aptos"/>
              </a:rPr>
              <a:t>XGBoost is efficient but vocabulary-bound; LLM semantic analysis handles heterogeneous logs after normalization.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50" b="0" i="0">
                <a:solidFill>
                  <a:srgbClr val="5B6673"/>
                </a:solidFill>
                <a:latin typeface="Aptos"/>
              </a:rPr>
              <a:t>AI-Augmented Compliance Auditing | Research Project Course | Moise Iradukunda Ingabire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6400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 i="0">
                <a:solidFill>
                  <a:srgbClr val="5B6673"/>
                </a:solidFill>
                <a:latin typeface="Aptos"/>
              </a:rPr>
              <a:t>6/15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0E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ptos"/>
              </a:rPr>
              <a:t>Current validated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530352"/>
            <a:ext cx="98755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 i="0">
                <a:solidFill>
                  <a:srgbClr val="B9C7D8"/>
                </a:solidFill>
                <a:latin typeface="Aptos"/>
              </a:rPr>
              <a:t>These are the numbers to present today.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94360" y="1325880"/>
            <a:ext cx="2606040" cy="155448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1B7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435608"/>
            <a:ext cx="23317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 i="0">
                <a:solidFill>
                  <a:srgbClr val="161A23"/>
                </a:solidFill>
                <a:latin typeface="Aptos"/>
              </a:rPr>
              <a:t>Clean XGBoost v2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64792"/>
            <a:ext cx="233172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 i="0">
                <a:solidFill>
                  <a:srgbClr val="1B7F4D"/>
                </a:solidFill>
                <a:latin typeface="Aptos"/>
              </a:rPr>
              <a:t>85.45%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50008"/>
            <a:ext cx="23317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50" b="0" i="0">
                <a:solidFill>
                  <a:srgbClr val="5B6673"/>
                </a:solidFill>
                <a:latin typeface="Aptos"/>
              </a:rPr>
              <a:t>held-out test F1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74720" y="1325880"/>
            <a:ext cx="2606040" cy="155448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11880" y="1435608"/>
            <a:ext cx="23317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 i="0">
                <a:solidFill>
                  <a:srgbClr val="161A23"/>
                </a:solidFill>
                <a:latin typeface="Aptos"/>
              </a:rPr>
              <a:t>GPT-4o-mini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11880" y="1764792"/>
            <a:ext cx="233172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 i="0">
                <a:solidFill>
                  <a:srgbClr val="1F6FB2"/>
                </a:solidFill>
                <a:latin typeface="Aptos"/>
              </a:rPr>
              <a:t>94.75%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11880" y="2350008"/>
            <a:ext cx="23317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50" b="0" i="0">
                <a:solidFill>
                  <a:srgbClr val="5B6673"/>
                </a:solidFill>
                <a:latin typeface="Aptos"/>
              </a:rPr>
              <a:t>macro accuracy, n=800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1325880"/>
            <a:ext cx="2606040" cy="155448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0E8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0" y="1435608"/>
            <a:ext cx="23317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 i="0">
                <a:solidFill>
                  <a:srgbClr val="161A23"/>
                </a:solidFill>
                <a:latin typeface="Aptos"/>
              </a:rPr>
              <a:t>Windows enrichment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1764792"/>
            <a:ext cx="233172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 i="0">
                <a:solidFill>
                  <a:srgbClr val="0E8A8A"/>
                </a:solidFill>
                <a:latin typeface="Aptos"/>
              </a:rPr>
              <a:t>3.0 -&gt; 97.5%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50008"/>
            <a:ext cx="23317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50" b="0" i="0">
                <a:solidFill>
                  <a:srgbClr val="5B6673"/>
                </a:solidFill>
                <a:latin typeface="Aptos"/>
              </a:rPr>
              <a:t>bare EventID to description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235440" y="1325880"/>
            <a:ext cx="2606040" cy="155448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372600" y="1435608"/>
            <a:ext cx="23317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 i="0">
                <a:solidFill>
                  <a:srgbClr val="161A23"/>
                </a:solidFill>
                <a:latin typeface="Aptos"/>
              </a:rPr>
              <a:t>MITRE validation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72600" y="1764792"/>
            <a:ext cx="233172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  <a:latin typeface="Aptos"/>
              </a:rPr>
              <a:t>92.8%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72600" y="2350008"/>
            <a:ext cx="23317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50" b="0" i="0">
                <a:solidFill>
                  <a:srgbClr val="5B6673"/>
                </a:solidFill>
                <a:latin typeface="Aptos"/>
              </a:rPr>
              <a:t>5-scenario macro detection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400" y="3977639"/>
            <a:ext cx="10332720" cy="1417320"/>
          </a:xfrm>
          <a:prstGeom prst="roundRect">
            <a:avLst/>
          </a:prstGeom>
          <a:solidFill>
            <a:srgbClr val="0E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4224528"/>
            <a:ext cx="2743200" cy="2743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Aptos"/>
              </a:rPr>
              <a:t>Presentation framing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645152"/>
            <a:ext cx="9692640" cy="38404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400" b="0" i="0">
                <a:solidFill>
                  <a:srgbClr val="D2E5F6"/>
                </a:solidFill>
                <a:latin typeface="Aptos"/>
              </a:rPr>
              <a:t>The contribution is not a perfect model. It is a defensible hybrid architecture that exposes domain shift, normalizes evidence, and routes logs to the right analysis path.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50" b="0" i="0">
                <a:solidFill>
                  <a:srgbClr val="5B6673"/>
                </a:solidFill>
                <a:latin typeface="Aptos"/>
              </a:rPr>
              <a:t>AI-Augmented Compliance Auditing | Research Project Course | Moise Iradukunda Ingabire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201400" y="6473952"/>
            <a:ext cx="6400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 i="0">
                <a:solidFill>
                  <a:srgbClr val="5B6673"/>
                </a:solidFill>
                <a:latin typeface="Aptos"/>
              </a:rPr>
              <a:t>7/15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0E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ptos"/>
              </a:rPr>
              <a:t>Peer review forced a stronger result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530352"/>
            <a:ext cx="98755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 i="0">
                <a:solidFill>
                  <a:srgbClr val="B9C7D8"/>
                </a:solidFill>
                <a:latin typeface="Aptos"/>
              </a:rPr>
              <a:t>The old near-perfect metric was not defensible; the clean model is.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6446520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700" b="1" i="0">
                <a:solidFill>
                  <a:srgbClr val="C41230"/>
                </a:solidFill>
                <a:latin typeface="Aptos"/>
              </a:rPr>
              <a:t>XGBoost after leakage cleanup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80744"/>
            <a:ext cx="64465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ptos"/>
              </a:rPr>
              <a:t>Clean model is credible: lower performance, but defensible.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690872"/>
            <a:ext cx="5852160" cy="12700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856232"/>
            <a:ext cx="12700" cy="2834640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4690872"/>
            <a:ext cx="585216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617720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175482"/>
            <a:ext cx="585216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102330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660093"/>
            <a:ext cx="585216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586941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144704"/>
            <a:ext cx="585216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071552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2629315"/>
            <a:ext cx="585216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556163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2113926"/>
            <a:ext cx="585216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040774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100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2114184"/>
            <a:ext cx="1291590" cy="2576687"/>
          </a:xfrm>
          <a:prstGeom prst="roundRect">
            <a:avLst/>
          </a:prstGeom>
          <a:solidFill>
            <a:srgbClr val="B8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" y="1858152"/>
            <a:ext cx="1401318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950" b="1" i="0">
                <a:solidFill>
                  <a:srgbClr val="161A23"/>
                </a:solidFill>
                <a:latin typeface="Aptos"/>
              </a:rPr>
              <a:t>100.0%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4764024"/>
            <a:ext cx="1437894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819" b="0" i="0">
                <a:solidFill>
                  <a:srgbClr val="161A23"/>
                </a:solidFill>
                <a:latin typeface="Aptos"/>
              </a:rPr>
              <a:t>Leaky
old claim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571750" y="2495314"/>
            <a:ext cx="1291590" cy="2195557"/>
          </a:xfrm>
          <a:prstGeom prst="roundRect">
            <a:avLst/>
          </a:prstGeom>
          <a:solidFill>
            <a:srgbClr val="1B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516886" y="2239282"/>
            <a:ext cx="1401318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950" b="1" i="0">
                <a:solidFill>
                  <a:srgbClr val="161A23"/>
                </a:solidFill>
                <a:latin typeface="Aptos"/>
              </a:rPr>
              <a:t>85.2%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98598" y="4764024"/>
            <a:ext cx="1437894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819" b="0" i="0">
                <a:solidFill>
                  <a:srgbClr val="161A23"/>
                </a:solidFill>
                <a:latin typeface="Aptos"/>
              </a:rPr>
              <a:t>Clean v2
CV F1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00500" y="2488872"/>
            <a:ext cx="1291590" cy="2201999"/>
          </a:xfrm>
          <a:prstGeom prst="roundRect">
            <a:avLst/>
          </a:prstGeom>
          <a:solidFill>
            <a:srgbClr val="1B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45636" y="2232840"/>
            <a:ext cx="1401318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950" b="1" i="0">
                <a:solidFill>
                  <a:srgbClr val="161A23"/>
                </a:solidFill>
                <a:latin typeface="Aptos"/>
              </a:rPr>
              <a:t>85.5%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927348" y="4764024"/>
            <a:ext cx="1437894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819" b="0" i="0">
                <a:solidFill>
                  <a:srgbClr val="161A23"/>
                </a:solidFill>
                <a:latin typeface="Aptos"/>
              </a:rPr>
              <a:t>Clean v2
test F1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429250" y="2445321"/>
            <a:ext cx="1291590" cy="2245550"/>
          </a:xfrm>
          <a:prstGeom prst="round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74386" y="2189289"/>
            <a:ext cx="1401318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950" b="1" i="0">
                <a:solidFill>
                  <a:srgbClr val="161A23"/>
                </a:solidFill>
                <a:latin typeface="Aptos"/>
              </a:rPr>
              <a:t>87.1%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56098" y="4764024"/>
            <a:ext cx="1437894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819" b="0" i="0">
                <a:solidFill>
                  <a:srgbClr val="161A23"/>
                </a:solidFill>
                <a:latin typeface="Aptos"/>
              </a:rPr>
              <a:t>Clean v2
test acc.</a:t>
            </a:r>
          </a:p>
        </p:txBody>
      </p:sp>
      <p:graphicFrame>
        <p:nvGraphicFramePr>
          <p:cNvPr id="34" name="Table 33"/>
          <p:cNvGraphicFramePr>
            <a:graphicFrameLocks noGrp="1"/>
          </p:cNvGraphicFramePr>
          <p:nvPr/>
        </p:nvGraphicFramePr>
        <p:xfrm>
          <a:off x="7498079" y="1417320"/>
          <a:ext cx="3977638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8819"/>
                <a:gridCol w="1988819"/>
              </a:tblGrid>
              <a:tr h="667512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tos"/>
                        </a:rPr>
                        <a:t>Item</a:t>
                      </a:r>
                    </a:p>
                  </a:txBody>
                  <a:tcPr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tos"/>
                        </a:rPr>
                        <a:t>Status</a:t>
                      </a:r>
                    </a:p>
                  </a:txBody>
                  <a:tcPr>
                    <a:solidFill>
                      <a:srgbClr val="0E1B2A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Old issue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Synthetic leakage inflated the headline F1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Fix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Regenerated leakage-free data; removed leaky features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New result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Clean XGBoost v2 test F1 = 85.45%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667512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Interpretation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Credible baseline in the expected 70-90% range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5" name="TextBox 34"/>
          <p:cNvSpPr txBox="1"/>
          <p:nvPr/>
        </p:nvSpPr>
        <p:spPr>
          <a:xfrm>
            <a:off x="7543800" y="5138928"/>
            <a:ext cx="3886200" cy="6858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50" b="1" i="0">
                <a:solidFill>
                  <a:srgbClr val="0E1B2A"/>
                </a:solidFill>
                <a:latin typeface="Aptos"/>
              </a:rPr>
              <a:t>How to say it: reviewers were right to challenge the perfect score; the revision now reports the honest model behavior.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50" b="0" i="0">
                <a:solidFill>
                  <a:srgbClr val="5B6673"/>
                </a:solidFill>
                <a:latin typeface="Aptos"/>
              </a:rPr>
              <a:t>AI-Augmented Compliance Auditing | Research Project Course | Moise Iradukunda Ingabire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1201400" y="6473952"/>
            <a:ext cx="6400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 i="0">
                <a:solidFill>
                  <a:srgbClr val="5B6673"/>
                </a:solidFill>
                <a:latin typeface="Aptos"/>
              </a:rPr>
              <a:t>8/15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0E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ptos"/>
              </a:rPr>
              <a:t>XGBoost still has a role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530352"/>
            <a:ext cx="98755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 i="0">
                <a:solidFill>
                  <a:srgbClr val="B9C7D8"/>
                </a:solidFill>
                <a:latin typeface="Aptos"/>
              </a:rPr>
              <a:t>It is fast and useful for structured, in-distribution evidence.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6903720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700" b="1" i="0">
                <a:solidFill>
                  <a:srgbClr val="C41230"/>
                </a:solidFill>
                <a:latin typeface="Aptos"/>
              </a:rPr>
              <a:t>Performance varies by control family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80744"/>
            <a:ext cx="69037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ptos"/>
              </a:rPr>
              <a:t>Per-family F1 from leakage-free held-out test 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965192"/>
            <a:ext cx="6309360" cy="12700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856232"/>
            <a:ext cx="12700" cy="3108960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4965192"/>
            <a:ext cx="630936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892040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399926"/>
            <a:ext cx="630936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326774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834661"/>
            <a:ext cx="630936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761509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269395"/>
            <a:ext cx="630936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196243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2704130"/>
            <a:ext cx="630936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630978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2138864"/>
            <a:ext cx="630936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065712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100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2138864"/>
            <a:ext cx="634365" cy="2826327"/>
          </a:xfrm>
          <a:prstGeom prst="round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" y="1882832"/>
            <a:ext cx="744093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950" b="1" i="0">
                <a:solidFill>
                  <a:srgbClr val="161A23"/>
                </a:solidFill>
                <a:latin typeface="Aptos"/>
              </a:rPr>
              <a:t>100.0%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5038344"/>
            <a:ext cx="780669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819" b="0" i="0">
                <a:solidFill>
                  <a:srgbClr val="161A23"/>
                </a:solidFill>
                <a:latin typeface="Aptos"/>
              </a:rPr>
              <a:t>IA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914525" y="2138864"/>
            <a:ext cx="634365" cy="2826327"/>
          </a:xfrm>
          <a:prstGeom prst="roundRect">
            <a:avLst/>
          </a:prstGeom>
          <a:solidFill>
            <a:srgbClr val="1B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859661" y="1882832"/>
            <a:ext cx="744093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950" b="1" i="0">
                <a:solidFill>
                  <a:srgbClr val="161A23"/>
                </a:solidFill>
                <a:latin typeface="Aptos"/>
              </a:rPr>
              <a:t>100.0%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41373" y="5038344"/>
            <a:ext cx="780669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819" b="0" i="0">
                <a:solidFill>
                  <a:srgbClr val="161A23"/>
                </a:solidFill>
                <a:latin typeface="Aptos"/>
              </a:rPr>
              <a:t>MP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686050" y="2360731"/>
            <a:ext cx="634365" cy="2604460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31186" y="2104699"/>
            <a:ext cx="744093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950" b="1" i="0">
                <a:solidFill>
                  <a:srgbClr val="161A23"/>
                </a:solidFill>
                <a:latin typeface="Aptos"/>
              </a:rPr>
              <a:t>92.2%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612898" y="5038344"/>
            <a:ext cx="780669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819" b="0" i="0">
                <a:solidFill>
                  <a:srgbClr val="161A23"/>
                </a:solidFill>
                <a:latin typeface="Aptos"/>
              </a:rPr>
              <a:t>MA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457575" y="2435346"/>
            <a:ext cx="634365" cy="2529845"/>
          </a:xfrm>
          <a:prstGeom prst="round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402711" y="2179314"/>
            <a:ext cx="744093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950" b="1" i="0">
                <a:solidFill>
                  <a:srgbClr val="161A23"/>
                </a:solidFill>
                <a:latin typeface="Aptos"/>
              </a:rPr>
              <a:t>89.5%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384423" y="5038344"/>
            <a:ext cx="780669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819" b="0" i="0">
                <a:solidFill>
                  <a:srgbClr val="161A23"/>
                </a:solidFill>
                <a:latin typeface="Aptos"/>
              </a:rPr>
              <a:t>PS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229100" y="2457391"/>
            <a:ext cx="634365" cy="2507800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174236" y="2201359"/>
            <a:ext cx="744093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950" b="1" i="0">
                <a:solidFill>
                  <a:srgbClr val="161A23"/>
                </a:solidFill>
                <a:latin typeface="Aptos"/>
              </a:rPr>
              <a:t>88.7%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55948" y="5038344"/>
            <a:ext cx="780669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819" b="0" i="0">
                <a:solidFill>
                  <a:srgbClr val="161A23"/>
                </a:solidFill>
                <a:latin typeface="Aptos"/>
              </a:rPr>
              <a:t>SA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000625" y="2478589"/>
            <a:ext cx="634365" cy="2486602"/>
          </a:xfrm>
          <a:prstGeom prst="roundRect">
            <a:avLst/>
          </a:prstGeom>
          <a:solidFill>
            <a:srgbClr val="F3B6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945761" y="2222557"/>
            <a:ext cx="744093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950" b="1" i="0">
                <a:solidFill>
                  <a:srgbClr val="161A23"/>
                </a:solidFill>
                <a:latin typeface="Aptos"/>
              </a:rPr>
              <a:t>88.0%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927473" y="5038344"/>
            <a:ext cx="780669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819" b="0" i="0">
                <a:solidFill>
                  <a:srgbClr val="161A23"/>
                </a:solidFill>
                <a:latin typeface="Aptos"/>
              </a:rPr>
              <a:t>SP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772150" y="2500069"/>
            <a:ext cx="634365" cy="2465122"/>
          </a:xfrm>
          <a:prstGeom prst="roundRect">
            <a:avLst/>
          </a:prstGeom>
          <a:solidFill>
            <a:srgbClr val="0E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717286" y="2244037"/>
            <a:ext cx="744093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950" b="1" i="0">
                <a:solidFill>
                  <a:srgbClr val="161A23"/>
                </a:solidFill>
                <a:latin typeface="Aptos"/>
              </a:rPr>
              <a:t>87.2%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98998" y="5038344"/>
            <a:ext cx="780669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819" b="0" i="0">
                <a:solidFill>
                  <a:srgbClr val="161A23"/>
                </a:solidFill>
                <a:latin typeface="Aptos"/>
              </a:rPr>
              <a:t>AT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543675" y="2569031"/>
            <a:ext cx="634365" cy="2396160"/>
          </a:xfrm>
          <a:prstGeom prst="roundRect">
            <a:avLst/>
          </a:prstGeom>
          <a:solidFill>
            <a:srgbClr val="B8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88811" y="2312999"/>
            <a:ext cx="744093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950" b="1" i="0">
                <a:solidFill>
                  <a:srgbClr val="161A23"/>
                </a:solidFill>
                <a:latin typeface="Aptos"/>
              </a:rPr>
              <a:t>84.8%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70523" y="5038344"/>
            <a:ext cx="780669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819" b="0" i="0">
                <a:solidFill>
                  <a:srgbClr val="161A23"/>
                </a:solidFill>
                <a:latin typeface="Aptos"/>
              </a:rPr>
              <a:t>AC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818120" y="1234440"/>
            <a:ext cx="32004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000" b="1" i="0">
                <a:solidFill>
                  <a:srgbClr val="161A23"/>
                </a:solidFill>
                <a:latin typeface="Aptos"/>
              </a:rPr>
              <a:t>What the chart means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818120" y="1755648"/>
            <a:ext cx="3520440" cy="12344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0" i="0">
                <a:solidFill>
                  <a:srgbClr val="5B6673"/>
                </a:solidFill>
                <a:latin typeface="Aptos"/>
              </a:rPr>
              <a:t>The clean XGBoost model is not the universal compliance brain. It is the low-latency fast path for log families with vocabulary overlap and structured evidence.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818120" y="3337560"/>
            <a:ext cx="320040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000" b="1" i="0">
                <a:solidFill>
                  <a:srgbClr val="161A23"/>
                </a:solidFill>
                <a:latin typeface="Aptos"/>
              </a:rPr>
              <a:t>Design decision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818120" y="3840480"/>
            <a:ext cx="3520440" cy="10058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0" i="0">
                <a:solidFill>
                  <a:srgbClr val="5B6673"/>
                </a:solidFill>
                <a:latin typeface="Aptos"/>
              </a:rPr>
              <a:t>When vocabulary coverage is weak, route to the semantic LLM path before the Decision Engine makes the control verdict.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50" b="0" i="0">
                <a:solidFill>
                  <a:srgbClr val="5B6673"/>
                </a:solidFill>
                <a:latin typeface="Aptos"/>
              </a:rPr>
              <a:t>AI-Augmented Compliance Auditing | Research Project Course | Moise Iradukunda Ingabire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01400" y="6473952"/>
            <a:ext cx="6400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 i="0">
                <a:solidFill>
                  <a:srgbClr val="5B6673"/>
                </a:solidFill>
                <a:latin typeface="Aptos"/>
              </a:rPr>
              <a:t>9/15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0E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ptos"/>
              </a:rPr>
              <a:t>LLM semantic analysis closes the format gap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530352"/>
            <a:ext cx="98755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 i="0">
                <a:solidFill>
                  <a:srgbClr val="B9C7D8"/>
                </a:solidFill>
                <a:latin typeface="Aptos"/>
              </a:rPr>
              <a:t>Current GPT-4o-mini evaluation: 800 samples, 4 log types, Wilson confidence intervals.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051560"/>
            <a:ext cx="10789920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700" b="1" i="0">
                <a:solidFill>
                  <a:srgbClr val="C41230"/>
                </a:solidFill>
                <a:latin typeface="Aptos"/>
              </a:rPr>
              <a:t>LLM semantic path handles heterogeneous logs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380744"/>
            <a:ext cx="107899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ptos"/>
              </a:rPr>
              <a:t>GPT-4o-mini macro accuracy: 94.75%; n=800</a:t>
            </a:r>
          </a:p>
        </p:txBody>
      </p:sp>
      <p:sp>
        <p:nvSpPr>
          <p:cNvPr id="8" name="Rectangle 7"/>
          <p:cNvSpPr/>
          <p:nvPr/>
        </p:nvSpPr>
        <p:spPr>
          <a:xfrm>
            <a:off x="1097280" y="5239512"/>
            <a:ext cx="10195560" cy="12700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97280" y="1856232"/>
            <a:ext cx="12700" cy="3383280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97280" y="5239512"/>
            <a:ext cx="1019556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5166360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97280" y="4624370"/>
            <a:ext cx="1019556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5800" y="4551218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97280" y="4009228"/>
            <a:ext cx="1019556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3936076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97280" y="3394086"/>
            <a:ext cx="1019556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320934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97280" y="2778944"/>
            <a:ext cx="1019556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705792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97280" y="2163802"/>
            <a:ext cx="1019556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2090650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100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234440" y="2486752"/>
            <a:ext cx="2377440" cy="2752759"/>
          </a:xfrm>
          <a:prstGeom prst="round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79576" y="2230720"/>
            <a:ext cx="2487168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950" b="1" i="0">
                <a:solidFill>
                  <a:srgbClr val="161A23"/>
                </a:solidFill>
                <a:latin typeface="Aptos"/>
              </a:rPr>
              <a:t>89.5%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414270" y="2379102"/>
            <a:ext cx="17780" cy="261435"/>
          </a:xfrm>
          <a:prstGeom prst="rect">
            <a:avLst/>
          </a:prstGeom>
          <a:solidFill>
            <a:srgbClr val="16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368296" y="2379102"/>
            <a:ext cx="109728" cy="15240"/>
          </a:xfrm>
          <a:prstGeom prst="rect">
            <a:avLst/>
          </a:prstGeom>
          <a:solidFill>
            <a:srgbClr val="16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368296" y="2640537"/>
            <a:ext cx="109728" cy="15240"/>
          </a:xfrm>
          <a:prstGeom prst="rect">
            <a:avLst/>
          </a:prstGeom>
          <a:solidFill>
            <a:srgbClr val="16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61288" y="5312664"/>
            <a:ext cx="2523744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819" b="0" i="0">
                <a:solidFill>
                  <a:srgbClr val="161A23"/>
                </a:solidFill>
                <a:latin typeface="Aptos"/>
              </a:rPr>
              <a:t>SSH
Auth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49040" y="2240695"/>
            <a:ext cx="2377440" cy="2998816"/>
          </a:xfrm>
          <a:prstGeom prst="round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694176" y="1984663"/>
            <a:ext cx="2487168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950" b="1" i="0">
                <a:solidFill>
                  <a:srgbClr val="161A23"/>
                </a:solidFill>
                <a:latin typeface="Aptos"/>
              </a:rPr>
              <a:t>97.5%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28870" y="2197635"/>
            <a:ext cx="17780" cy="141482"/>
          </a:xfrm>
          <a:prstGeom prst="rect">
            <a:avLst/>
          </a:prstGeom>
          <a:solidFill>
            <a:srgbClr val="16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4882896" y="2197635"/>
            <a:ext cx="109728" cy="15240"/>
          </a:xfrm>
          <a:prstGeom prst="rect">
            <a:avLst/>
          </a:prstGeom>
          <a:solidFill>
            <a:srgbClr val="16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882896" y="2339118"/>
            <a:ext cx="109728" cy="15240"/>
          </a:xfrm>
          <a:prstGeom prst="rect">
            <a:avLst/>
          </a:prstGeom>
          <a:solidFill>
            <a:srgbClr val="16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675888" y="5312664"/>
            <a:ext cx="2523744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819" b="0" i="0">
                <a:solidFill>
                  <a:srgbClr val="161A23"/>
                </a:solidFill>
                <a:latin typeface="Aptos"/>
              </a:rPr>
              <a:t>Windows
Events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63640" y="2302209"/>
            <a:ext cx="2377440" cy="2937302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208776" y="2046177"/>
            <a:ext cx="2487168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950" b="1" i="0">
                <a:solidFill>
                  <a:srgbClr val="161A23"/>
                </a:solidFill>
                <a:latin typeface="Aptos"/>
              </a:rPr>
              <a:t>95.5%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443470" y="2237619"/>
            <a:ext cx="17780" cy="181466"/>
          </a:xfrm>
          <a:prstGeom prst="rect">
            <a:avLst/>
          </a:prstGeom>
          <a:solidFill>
            <a:srgbClr val="16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7397496" y="2237619"/>
            <a:ext cx="109728" cy="15240"/>
          </a:xfrm>
          <a:prstGeom prst="rect">
            <a:avLst/>
          </a:prstGeom>
          <a:solidFill>
            <a:srgbClr val="16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397496" y="2419086"/>
            <a:ext cx="109728" cy="15240"/>
          </a:xfrm>
          <a:prstGeom prst="rect">
            <a:avLst/>
          </a:prstGeom>
          <a:solidFill>
            <a:srgbClr val="16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190488" y="5312664"/>
            <a:ext cx="2523744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819" b="0" i="0">
                <a:solidFill>
                  <a:srgbClr val="161A23"/>
                </a:solidFill>
                <a:latin typeface="Aptos"/>
              </a:rPr>
              <a:t>HTTP/API
Access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778240" y="2271452"/>
            <a:ext cx="2377440" cy="2968059"/>
          </a:xfrm>
          <a:prstGeom prst="roundRect">
            <a:avLst/>
          </a:prstGeom>
          <a:solidFill>
            <a:srgbClr val="1B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723376" y="2015420"/>
            <a:ext cx="2487168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950" b="1" i="0">
                <a:solidFill>
                  <a:srgbClr val="161A23"/>
                </a:solidFill>
                <a:latin typeface="Aptos"/>
              </a:rPr>
              <a:t>96.5%</a:t>
            </a:r>
          </a:p>
        </p:txBody>
      </p:sp>
      <p:sp>
        <p:nvSpPr>
          <p:cNvPr id="42" name="Rectangle 41"/>
          <p:cNvSpPr/>
          <p:nvPr/>
        </p:nvSpPr>
        <p:spPr>
          <a:xfrm>
            <a:off x="9958070" y="2216089"/>
            <a:ext cx="17780" cy="163012"/>
          </a:xfrm>
          <a:prstGeom prst="rect">
            <a:avLst/>
          </a:prstGeom>
          <a:solidFill>
            <a:srgbClr val="16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912096" y="2216089"/>
            <a:ext cx="109728" cy="15240"/>
          </a:xfrm>
          <a:prstGeom prst="rect">
            <a:avLst/>
          </a:prstGeom>
          <a:solidFill>
            <a:srgbClr val="16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9912096" y="2379102"/>
            <a:ext cx="109728" cy="15240"/>
          </a:xfrm>
          <a:prstGeom prst="rect">
            <a:avLst/>
          </a:prstGeom>
          <a:solidFill>
            <a:srgbClr val="16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05088" y="5312664"/>
            <a:ext cx="2523744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819" b="0" i="0">
                <a:solidFill>
                  <a:srgbClr val="161A23"/>
                </a:solidFill>
                <a:latin typeface="Aptos"/>
              </a:rPr>
              <a:t>macOS System
Service Logs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50" b="0" i="0">
                <a:solidFill>
                  <a:srgbClr val="5B6673"/>
                </a:solidFill>
                <a:latin typeface="Aptos"/>
              </a:rPr>
              <a:t>AI-Augmented Compliance Auditing | Research Project Course | Moise Iradukunda Ingabire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201400" y="6473952"/>
            <a:ext cx="6400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 i="0">
                <a:solidFill>
                  <a:srgbClr val="5B6673"/>
                </a:solidFill>
                <a:latin typeface="Aptos"/>
              </a:rPr>
              <a:t>10/15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0E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ptos"/>
              </a:rPr>
              <a:t>Key architectural finding: normalize before reasoning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530352"/>
            <a:ext cx="98755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 i="0">
                <a:solidFill>
                  <a:srgbClr val="B9C7D8"/>
                </a:solidFill>
                <a:latin typeface="Aptos"/>
              </a:rPr>
              <a:t>Bare EventID integers are not enough; descriptions unlock semantic classification.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051560"/>
            <a:ext cx="6537960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700" b="1" i="0">
                <a:solidFill>
                  <a:srgbClr val="C41230"/>
                </a:solidFill>
                <a:latin typeface="Aptos"/>
              </a:rPr>
              <a:t>Windows EventID normalization changes the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380744"/>
            <a:ext cx="653796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ptos"/>
              </a:rPr>
              <a:t>GPT-4o-mini on Mordor Windows Security Events, n=200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" y="4828032"/>
            <a:ext cx="5943600" cy="12700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51560" y="1856232"/>
            <a:ext cx="12700" cy="2971800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51560" y="4828032"/>
            <a:ext cx="594360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754880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4233672"/>
            <a:ext cx="594360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60520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" y="3639312"/>
            <a:ext cx="594360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3566160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51560" y="3044952"/>
            <a:ext cx="594360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2971800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51560" y="2450592"/>
            <a:ext cx="594360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2377440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" y="1856232"/>
            <a:ext cx="594360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1783080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100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4738878"/>
            <a:ext cx="2766060" cy="89154"/>
          </a:xfrm>
          <a:prstGeom prst="roundRect">
            <a:avLst/>
          </a:prstGeom>
          <a:solidFill>
            <a:srgbClr val="B823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33856" y="4482846"/>
            <a:ext cx="2875788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950" b="1" i="0">
                <a:solidFill>
                  <a:srgbClr val="161A23"/>
                </a:solidFill>
                <a:latin typeface="Aptos"/>
              </a:rPr>
              <a:t>3.0%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562860" y="4637836"/>
            <a:ext cx="17780" cy="148590"/>
          </a:xfrm>
          <a:prstGeom prst="rect">
            <a:avLst/>
          </a:prstGeom>
          <a:solidFill>
            <a:srgbClr val="16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16886" y="4637836"/>
            <a:ext cx="109728" cy="15240"/>
          </a:xfrm>
          <a:prstGeom prst="rect">
            <a:avLst/>
          </a:prstGeom>
          <a:solidFill>
            <a:srgbClr val="16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2516886" y="4786426"/>
            <a:ext cx="109728" cy="15240"/>
          </a:xfrm>
          <a:prstGeom prst="rect">
            <a:avLst/>
          </a:prstGeom>
          <a:solidFill>
            <a:srgbClr val="16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15568" y="4901184"/>
            <a:ext cx="2912364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819" b="0" i="0">
                <a:solidFill>
                  <a:srgbClr val="161A23"/>
                </a:solidFill>
                <a:latin typeface="Aptos"/>
              </a:rPr>
              <a:t>Bare
EventID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091940" y="1930527"/>
            <a:ext cx="2766060" cy="2897505"/>
          </a:xfrm>
          <a:prstGeom prst="roundRect">
            <a:avLst/>
          </a:prstGeom>
          <a:solidFill>
            <a:srgbClr val="1B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37076" y="1674495"/>
            <a:ext cx="2875788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950" b="1" i="0">
                <a:solidFill>
                  <a:srgbClr val="161A23"/>
                </a:solidFill>
                <a:latin typeface="Aptos"/>
              </a:rPr>
              <a:t>97.5%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466080" y="1888921"/>
            <a:ext cx="17780" cy="136702"/>
          </a:xfrm>
          <a:prstGeom prst="rect">
            <a:avLst/>
          </a:prstGeom>
          <a:solidFill>
            <a:srgbClr val="16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420106" y="1888921"/>
            <a:ext cx="109728" cy="15240"/>
          </a:xfrm>
          <a:prstGeom prst="rect">
            <a:avLst/>
          </a:prstGeom>
          <a:solidFill>
            <a:srgbClr val="16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420106" y="2025624"/>
            <a:ext cx="109728" cy="15240"/>
          </a:xfrm>
          <a:prstGeom prst="rect">
            <a:avLst/>
          </a:prstGeom>
          <a:solidFill>
            <a:srgbClr val="161A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018788" y="4901184"/>
            <a:ext cx="2912364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819" b="0" i="0">
                <a:solidFill>
                  <a:srgbClr val="161A23"/>
                </a:solidFill>
                <a:latin typeface="Aptos"/>
              </a:rPr>
              <a:t>EventID +
Description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726679" y="1325880"/>
            <a:ext cx="33832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000" b="1" i="0">
                <a:solidFill>
                  <a:srgbClr val="161A23"/>
                </a:solidFill>
                <a:latin typeface="Aptos"/>
              </a:rPr>
              <a:t>Presentation point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726679" y="1828800"/>
            <a:ext cx="3566160" cy="13258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0" i="0">
                <a:solidFill>
                  <a:srgbClr val="5B6673"/>
                </a:solidFill>
                <a:latin typeface="Aptos"/>
              </a:rPr>
              <a:t>Do not claim the LLM magically understands every raw enterprise log. The system must enrich Windows EventIDs into natural-language security context before LLM classification.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726679" y="3794760"/>
            <a:ext cx="3566160" cy="105156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 i="0">
                <a:solidFill>
                  <a:srgbClr val="0E1B2A"/>
                </a:solidFill>
                <a:latin typeface="Aptos"/>
              </a:rPr>
              <a:t>This supports the hybrid design: normalization is not preprocessing trivia; it is part of the compliance reasoning architecture.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50" b="0" i="0">
                <a:solidFill>
                  <a:srgbClr val="5B6673"/>
                </a:solidFill>
                <a:latin typeface="Aptos"/>
              </a:rPr>
              <a:t>AI-Augmented Compliance Auditing | Research Project Course | Moise Iradukunda Ingabire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73952"/>
            <a:ext cx="6400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 i="0">
                <a:solidFill>
                  <a:srgbClr val="5B6673"/>
                </a:solidFill>
                <a:latin typeface="Aptos"/>
              </a:rPr>
              <a:t>11/15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0E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ptos"/>
              </a:rPr>
              <a:t>Effectiveness validation: 5 MITRE ATT&amp;CK scenarios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530352"/>
            <a:ext cx="98755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 i="0">
                <a:solidFill>
                  <a:srgbClr val="B9C7D8"/>
                </a:solidFill>
                <a:latin typeface="Aptos"/>
              </a:rPr>
              <a:t>The system tests whether controls work, not only whether they exist.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051560"/>
            <a:ext cx="7269480" cy="29260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700" b="1" i="0">
                <a:solidFill>
                  <a:srgbClr val="C41230"/>
                </a:solidFill>
                <a:latin typeface="Aptos"/>
              </a:rPr>
              <a:t>Expanded adversarial 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1380744"/>
            <a:ext cx="726948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 i="0">
                <a:solidFill>
                  <a:srgbClr val="5B6673"/>
                </a:solidFill>
                <a:latin typeface="Aptos"/>
              </a:rPr>
              <a:t>Macro detection rate: 92.8%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965192"/>
            <a:ext cx="6675120" cy="12700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005840" y="1856232"/>
            <a:ext cx="12700" cy="3108960"/>
          </a:xfrm>
          <a:prstGeom prst="rect">
            <a:avLst/>
          </a:prstGeom>
          <a:solidFill>
            <a:srgbClr val="D8DE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005840" y="4965192"/>
            <a:ext cx="667512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4892040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05840" y="4399926"/>
            <a:ext cx="667512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326774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20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05840" y="3834661"/>
            <a:ext cx="667512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761509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40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005840" y="3269395"/>
            <a:ext cx="667512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94360" y="3196243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05840" y="2704130"/>
            <a:ext cx="667512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2630978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80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05840" y="2138864"/>
            <a:ext cx="6675120" cy="4445"/>
          </a:xfrm>
          <a:prstGeom prst="rect">
            <a:avLst/>
          </a:prstGeom>
          <a:solidFill>
            <a:srgbClr val="EC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94360" y="2065712"/>
            <a:ext cx="320040" cy="164592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750" b="0" i="0">
                <a:solidFill>
                  <a:srgbClr val="5B6673"/>
                </a:solidFill>
                <a:latin typeface="Aptos"/>
              </a:rPr>
              <a:t>100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43000" y="2534550"/>
            <a:ext cx="1170432" cy="2430641"/>
          </a:xfrm>
          <a:prstGeom prst="roundRect">
            <a:avLst/>
          </a:prstGeom>
          <a:solidFill>
            <a:srgbClr val="1F6F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88136" y="2278518"/>
            <a:ext cx="128016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950" b="1" i="0">
                <a:solidFill>
                  <a:srgbClr val="161A23"/>
                </a:solidFill>
                <a:latin typeface="Aptos"/>
              </a:rPr>
              <a:t>86.0%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69848" y="5038344"/>
            <a:ext cx="1316736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819" b="0" i="0">
                <a:solidFill>
                  <a:srgbClr val="161A23"/>
                </a:solidFill>
                <a:latin typeface="Aptos"/>
              </a:rPr>
              <a:t>T1059.001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450592" y="2138864"/>
            <a:ext cx="1170432" cy="2826327"/>
          </a:xfrm>
          <a:prstGeom prst="roundRect">
            <a:avLst/>
          </a:prstGeom>
          <a:solidFill>
            <a:srgbClr val="1B7F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395728" y="1882832"/>
            <a:ext cx="128016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950" b="1" i="0">
                <a:solidFill>
                  <a:srgbClr val="161A23"/>
                </a:solidFill>
                <a:latin typeface="Aptos"/>
              </a:rPr>
              <a:t>100.0%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377440" y="5038344"/>
            <a:ext cx="1316736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819" b="0" i="0">
                <a:solidFill>
                  <a:srgbClr val="161A23"/>
                </a:solidFill>
                <a:latin typeface="Aptos"/>
              </a:rPr>
              <a:t>T1190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3758184" y="2138864"/>
            <a:ext cx="1170432" cy="2826327"/>
          </a:xfrm>
          <a:prstGeom prst="roundRect">
            <a:avLst/>
          </a:prstGeom>
          <a:solidFill>
            <a:srgbClr val="0E8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703320" y="1882832"/>
            <a:ext cx="128016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950" b="1" i="0">
                <a:solidFill>
                  <a:srgbClr val="161A23"/>
                </a:solidFill>
                <a:latin typeface="Aptos"/>
              </a:rPr>
              <a:t>100.0%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85032" y="5038344"/>
            <a:ext cx="1316736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819" b="0" i="0">
                <a:solidFill>
                  <a:srgbClr val="161A23"/>
                </a:solidFill>
                <a:latin typeface="Aptos"/>
              </a:rPr>
              <a:t>T1110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65776" y="2138864"/>
            <a:ext cx="1170432" cy="2826327"/>
          </a:xfrm>
          <a:prstGeom prst="roundRect">
            <a:avLst/>
          </a:prstGeom>
          <a:solidFill>
            <a:srgbClr val="E877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10912" y="1882832"/>
            <a:ext cx="128016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950" b="1" i="0">
                <a:solidFill>
                  <a:srgbClr val="161A23"/>
                </a:solidFill>
                <a:latin typeface="Aptos"/>
              </a:rPr>
              <a:t>100.0%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992624" y="5038344"/>
            <a:ext cx="1316736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819" b="0" i="0">
                <a:solidFill>
                  <a:srgbClr val="161A23"/>
                </a:solidFill>
                <a:latin typeface="Aptos"/>
              </a:rPr>
              <a:t>T1078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73368" y="2760656"/>
            <a:ext cx="1170432" cy="2204535"/>
          </a:xfrm>
          <a:prstGeom prst="round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18504" y="2504624"/>
            <a:ext cx="128016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950" b="1" i="0">
                <a:solidFill>
                  <a:srgbClr val="161A23"/>
                </a:solidFill>
                <a:latin typeface="Aptos"/>
              </a:rPr>
              <a:t>78.0%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0216" y="5038344"/>
            <a:ext cx="1316736" cy="5486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819" b="0" i="0">
                <a:solidFill>
                  <a:srgbClr val="161A23"/>
                </a:solidFill>
                <a:latin typeface="Aptos"/>
              </a:rPr>
              <a:t>T1562.001</a:t>
            </a: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8138160" y="1234440"/>
          <a:ext cx="3429000" cy="3977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3000"/>
                <a:gridCol w="1143000"/>
                <a:gridCol w="1143000"/>
              </a:tblGrid>
              <a:tr h="662939">
                <a:tc>
                  <a:txBody>
                    <a:bodyPr/>
                    <a:lstStyle/>
                    <a:p>
                      <a:r>
                        <a:rPr b="1" sz="930">
                          <a:solidFill>
                            <a:srgbClr val="FFFFFF"/>
                          </a:solidFill>
                          <a:latin typeface="Aptos"/>
                        </a:rPr>
                        <a:t>MITRE</a:t>
                      </a:r>
                    </a:p>
                  </a:txBody>
                  <a:tcPr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30">
                          <a:solidFill>
                            <a:srgbClr val="FFFFFF"/>
                          </a:solidFill>
                          <a:latin typeface="Aptos"/>
                        </a:rPr>
                        <a:t>Scenario</a:t>
                      </a:r>
                    </a:p>
                  </a:txBody>
                  <a:tcPr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30">
                          <a:solidFill>
                            <a:srgbClr val="FFFFFF"/>
                          </a:solidFill>
                          <a:latin typeface="Aptos"/>
                        </a:rPr>
                        <a:t>Detection</a:t>
                      </a:r>
                    </a:p>
                  </a:txBody>
                  <a:tcPr>
                    <a:solidFill>
                      <a:srgbClr val="0E1B2A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r>
                        <a:rPr sz="930">
                          <a:solidFill>
                            <a:srgbClr val="161A23"/>
                          </a:solidFill>
                          <a:latin typeface="Aptos"/>
                        </a:rPr>
                        <a:t>T1059.001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0">
                          <a:solidFill>
                            <a:srgbClr val="161A23"/>
                          </a:solidFill>
                          <a:latin typeface="Aptos"/>
                        </a:rPr>
                        <a:t>PowerShell Fileless Shell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0">
                          <a:solidFill>
                            <a:srgbClr val="161A23"/>
                          </a:solidFill>
                          <a:latin typeface="Aptos"/>
                        </a:rPr>
                        <a:t>86.0%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r>
                        <a:rPr sz="930">
                          <a:solidFill>
                            <a:srgbClr val="161A23"/>
                          </a:solidFill>
                          <a:latin typeface="Aptos"/>
                        </a:rPr>
                        <a:t>T1190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0">
                          <a:solidFill>
                            <a:srgbClr val="161A23"/>
                          </a:solidFill>
                          <a:latin typeface="Aptos"/>
                        </a:rPr>
                        <a:t>XSS/SQLi WAF Bypass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0">
                          <a:solidFill>
                            <a:srgbClr val="161A23"/>
                          </a:solidFill>
                          <a:latin typeface="Aptos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r>
                        <a:rPr sz="930">
                          <a:solidFill>
                            <a:srgbClr val="161A23"/>
                          </a:solidFill>
                          <a:latin typeface="Aptos"/>
                        </a:rPr>
                        <a:t>T1110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0">
                          <a:solidFill>
                            <a:srgbClr val="161A23"/>
                          </a:solidFill>
                          <a:latin typeface="Aptos"/>
                        </a:rPr>
                        <a:t>SSH Brute Force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0">
                          <a:solidFill>
                            <a:srgbClr val="161A23"/>
                          </a:solidFill>
                          <a:latin typeface="Aptos"/>
                        </a:rPr>
                        <a:t>100.0%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r>
                        <a:rPr sz="930">
                          <a:solidFill>
                            <a:srgbClr val="161A23"/>
                          </a:solidFill>
                          <a:latin typeface="Aptos"/>
                        </a:rPr>
                        <a:t>T1078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0">
                          <a:solidFill>
                            <a:srgbClr val="161A23"/>
                          </a:solidFill>
                          <a:latin typeface="Aptos"/>
                        </a:rPr>
                        <a:t>Lateral Movement Valid Accou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0">
                          <a:solidFill>
                            <a:srgbClr val="161A23"/>
                          </a:solidFill>
                          <a:latin typeface="Aptos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62944">
                <a:tc>
                  <a:txBody>
                    <a:bodyPr/>
                    <a:lstStyle/>
                    <a:p>
                      <a:r>
                        <a:rPr sz="930">
                          <a:solidFill>
                            <a:srgbClr val="161A23"/>
                          </a:solidFill>
                          <a:latin typeface="Aptos"/>
                        </a:rPr>
                        <a:t>T1562.001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0">
                          <a:solidFill>
                            <a:srgbClr val="161A23"/>
                          </a:solidFill>
                          <a:latin typeface="Aptos"/>
                        </a:rPr>
                        <a:t>Impair Defenses: Disable Too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30">
                          <a:solidFill>
                            <a:srgbClr val="161A23"/>
                          </a:solidFill>
                          <a:latin typeface="Aptos"/>
                        </a:rPr>
                        <a:t>78.0%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38" name="TextBox 37"/>
          <p:cNvSpPr txBox="1"/>
          <p:nvPr/>
        </p:nvSpPr>
        <p:spPr>
          <a:xfrm>
            <a:off x="8138160" y="5504688"/>
            <a:ext cx="333756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250" b="1" i="0">
                <a:solidFill>
                  <a:srgbClr val="0E1B2A"/>
                </a:solidFill>
                <a:latin typeface="Aptos"/>
              </a:rPr>
              <a:t>Framing: this turns compliance into measured control effectiveness under attack behavior.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50" b="0" i="0">
                <a:solidFill>
                  <a:srgbClr val="5B6673"/>
                </a:solidFill>
                <a:latin typeface="Aptos"/>
              </a:rPr>
              <a:t>AI-Augmented Compliance Auditing | Research Project Course | Moise Iradukunda Ingabire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473952"/>
            <a:ext cx="6400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 i="0">
                <a:solidFill>
                  <a:srgbClr val="5B6673"/>
                </a:solidFill>
                <a:latin typeface="Aptos"/>
              </a:rPr>
              <a:t>12/15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0E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ptos"/>
              </a:rPr>
              <a:t>Dataset provenance for the latest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530352"/>
            <a:ext cx="98755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 i="0">
                <a:solidFill>
                  <a:srgbClr val="B9C7D8"/>
                </a:solidFill>
                <a:latin typeface="Aptos"/>
              </a:rPr>
              <a:t>Use this slide to explain exactly what evidence supports each headline number.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170432"/>
          <a:ext cx="1120140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00350"/>
                <a:gridCol w="2800350"/>
                <a:gridCol w="2800350"/>
                <a:gridCol w="2800350"/>
              </a:tblGrid>
              <a:tr h="624839">
                <a:tc>
                  <a:txBody>
                    <a:bodyPr/>
                    <a:lstStyle/>
                    <a:p>
                      <a:r>
                        <a:rPr b="1" sz="960">
                          <a:solidFill>
                            <a:srgbClr val="FFFFFF"/>
                          </a:solidFill>
                          <a:latin typeface="Aptos"/>
                        </a:rPr>
                        <a:t>Result</a:t>
                      </a:r>
                    </a:p>
                  </a:txBody>
                  <a:tcPr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60">
                          <a:solidFill>
                            <a:srgbClr val="FFFFFF"/>
                          </a:solidFill>
                          <a:latin typeface="Aptos"/>
                        </a:rPr>
                        <a:t>Dataset / source</a:t>
                      </a:r>
                    </a:p>
                  </a:txBody>
                  <a:tcPr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60">
                          <a:solidFill>
                            <a:srgbClr val="FFFFFF"/>
                          </a:solidFill>
                          <a:latin typeface="Aptos"/>
                        </a:rPr>
                        <a:t>Sample size</a:t>
                      </a:r>
                    </a:p>
                  </a:txBody>
                  <a:tcPr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60">
                          <a:solidFill>
                            <a:srgbClr val="FFFFFF"/>
                          </a:solidFill>
                          <a:latin typeface="Aptos"/>
                        </a:rPr>
                        <a:t>Current number</a:t>
                      </a:r>
                    </a:p>
                  </a:txBody>
                  <a:tcPr>
                    <a:solidFill>
                      <a:srgbClr val="0E1B2A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161A23"/>
                          </a:solidFill>
                          <a:latin typeface="Aptos"/>
                        </a:rPr>
                        <a:t>Clean XGBoost v2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161A23"/>
                          </a:solidFill>
                          <a:latin typeface="Aptos"/>
                        </a:rPr>
                        <a:t>Leakage-free regenerated synthetic NCSA logs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161A23"/>
                          </a:solidFill>
                          <a:latin typeface="Aptos"/>
                        </a:rPr>
                        <a:t>70K train / 15K val / 15K test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161A23"/>
                          </a:solidFill>
                          <a:latin typeface="Aptos"/>
                        </a:rPr>
                        <a:t>85.45% test F1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161A23"/>
                          </a:solidFill>
                          <a:latin typeface="Aptos"/>
                        </a:rPr>
                        <a:t>LLM semantic eval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161A23"/>
                          </a:solidFill>
                          <a:latin typeface="Aptos"/>
                        </a:rPr>
                        <a:t>SSH auth, Mordor Windows, HTTP/API, macOS logs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161A23"/>
                          </a:solidFill>
                          <a:latin typeface="Aptos"/>
                        </a:rPr>
                        <a:t>200/type = 800 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161A23"/>
                          </a:solidFill>
                          <a:latin typeface="Aptos"/>
                        </a:rPr>
                        <a:t>94.75% GPT-4o-mini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161A23"/>
                          </a:solidFill>
                          <a:latin typeface="Aptos"/>
                        </a:rPr>
                        <a:t>Windows enrichment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161A23"/>
                          </a:solidFill>
                          <a:latin typeface="Aptos"/>
                        </a:rPr>
                        <a:t>Mordor APT3 Windows Security EventIDs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161A23"/>
                          </a:solidFill>
                          <a:latin typeface="Aptos"/>
                        </a:rPr>
                        <a:t>n=200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161A23"/>
                          </a:solidFill>
                          <a:latin typeface="Aptos"/>
                        </a:rPr>
                        <a:t>3.0% bare -&gt; 97.5% enriched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624839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161A23"/>
                          </a:solidFill>
                          <a:latin typeface="Aptos"/>
                        </a:rPr>
                        <a:t>Adversarial validation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161A23"/>
                          </a:solidFill>
                          <a:latin typeface="Aptos"/>
                        </a:rPr>
                        <a:t>MITRE T1059.001, T1190, T1110, T1078, T1562.001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161A23"/>
                          </a:solidFill>
                          <a:latin typeface="Aptos"/>
                        </a:rPr>
                        <a:t>~50/scenario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161A23"/>
                          </a:solidFill>
                          <a:latin typeface="Aptos"/>
                        </a:rPr>
                        <a:t>92.8% macro detection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24844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161A23"/>
                          </a:solidFill>
                          <a:latin typeface="Aptos"/>
                        </a:rPr>
                        <a:t>Compliant FPR check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161A23"/>
                          </a:solidFill>
                          <a:latin typeface="Aptos"/>
                        </a:rPr>
                        <a:t>Mordor + Elastic AWS auth + Elastic Apache + LogPai Linux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161A23"/>
                          </a:solidFill>
                          <a:latin typeface="Aptos"/>
                        </a:rPr>
                        <a:t>100 real compliant logs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161A23"/>
                          </a:solidFill>
                          <a:latin typeface="Aptos"/>
                        </a:rPr>
                        <a:t>53.0% FPR currently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822960" y="5349240"/>
            <a:ext cx="10652760" cy="749808"/>
          </a:xfrm>
          <a:prstGeom prst="roundRect">
            <a:avLst/>
          </a:prstGeom>
          <a:solidFill>
            <a:srgbClr val="F4F6F8"/>
          </a:solidFill>
          <a:ln w="13970">
            <a:solidFill>
              <a:srgbClr val="D8DE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5522976"/>
            <a:ext cx="2194560" cy="219456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350" b="1" i="0">
                <a:solidFill>
                  <a:srgbClr val="161A23"/>
                </a:solidFill>
                <a:latin typeface="Aptos"/>
              </a:rPr>
              <a:t>Important wording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54680" y="5468112"/>
            <a:ext cx="7863840" cy="38404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20" b="0" i="0">
                <a:solidFill>
                  <a:srgbClr val="5B6673"/>
                </a:solidFill>
                <a:latin typeface="Aptos"/>
              </a:rPr>
              <a:t>Do not say one dataset produced every result. The honest story is a pipeline evaluation: clean synthetic training for XGBoost, mixed real/generated evaluation for LLM and adversarial tests, and real compliant logs for false-positive analysis.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50" b="0" i="0">
                <a:solidFill>
                  <a:srgbClr val="5B6673"/>
                </a:solidFill>
                <a:latin typeface="Aptos"/>
              </a:rPr>
              <a:t>AI-Augmented Compliance Auditing | Research Project Course | Moise Iradukunda Ingabire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6400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 i="0">
                <a:solidFill>
                  <a:srgbClr val="5B6673"/>
                </a:solidFill>
                <a:latin typeface="Aptos"/>
              </a:rPr>
              <a:t>13/15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0E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ptos"/>
              </a:rPr>
              <a:t>Deployment evidence and research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530352"/>
            <a:ext cx="98755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 i="0">
                <a:solidFill>
                  <a:srgbClr val="B9C7D8"/>
                </a:solidFill>
                <a:latin typeface="Aptos"/>
              </a:rPr>
              <a:t>Prototype works; paper is being refreshed for peer review.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70432"/>
            <a:ext cx="2606040" cy="132588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1B7F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1280160"/>
            <a:ext cx="23317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 i="0">
                <a:solidFill>
                  <a:srgbClr val="161A23"/>
                </a:solidFill>
                <a:latin typeface="Aptos"/>
              </a:rPr>
              <a:t>Live audit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" y="1554480"/>
            <a:ext cx="233172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 i="0">
                <a:solidFill>
                  <a:srgbClr val="1B7F4D"/>
                </a:solidFill>
                <a:latin typeface="Aptos"/>
              </a:rPr>
              <a:t>0.77 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" y="2011680"/>
            <a:ext cx="23317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50" b="0" i="0">
                <a:solidFill>
                  <a:srgbClr val="5B6673"/>
                </a:solidFill>
                <a:latin typeface="Aptos"/>
              </a:rPr>
              <a:t>end-to-end report generation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29000" y="1170432"/>
            <a:ext cx="2606040" cy="132588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1F6F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75304" y="1280160"/>
            <a:ext cx="23317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 i="0">
                <a:solidFill>
                  <a:srgbClr val="161A23"/>
                </a:solidFill>
                <a:latin typeface="Aptos"/>
              </a:rPr>
              <a:t>Footprint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75304" y="1554480"/>
            <a:ext cx="233172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 i="0">
                <a:solidFill>
                  <a:srgbClr val="1F6FB2"/>
                </a:solidFill>
                <a:latin typeface="Aptos"/>
              </a:rPr>
              <a:t>2 CPU / 2.66 GB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75304" y="2011680"/>
            <a:ext cx="23317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50" b="0" i="0">
                <a:solidFill>
                  <a:srgbClr val="5B6673"/>
                </a:solidFill>
                <a:latin typeface="Aptos"/>
              </a:rPr>
              <a:t>measured seven-engine system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1170432"/>
            <a:ext cx="2606040" cy="132588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E877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18504" y="1280160"/>
            <a:ext cx="23317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 i="0">
                <a:solidFill>
                  <a:srgbClr val="161A23"/>
                </a:solidFill>
                <a:latin typeface="Aptos"/>
              </a:rPr>
              <a:t>Hosting target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18504" y="1554480"/>
            <a:ext cx="233172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 i="0">
                <a:solidFill>
                  <a:srgbClr val="E87722"/>
                </a:solidFill>
                <a:latin typeface="Aptos"/>
              </a:rPr>
              <a:t>~$50/mo + 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18504" y="2011680"/>
            <a:ext cx="23317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50" b="0" i="0">
                <a:solidFill>
                  <a:srgbClr val="5B6673"/>
                </a:solidFill>
                <a:latin typeface="Aptos"/>
              </a:rPr>
              <a:t>resource-constrained deployment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15400" y="1170432"/>
            <a:ext cx="2606040" cy="1325880"/>
          </a:xfrm>
          <a:prstGeom prst="roundRect">
            <a:avLst/>
          </a:prstGeom>
          <a:solidFill>
            <a:srgbClr val="F8FAFC"/>
          </a:solidFill>
          <a:ln w="13970">
            <a:solidFill>
              <a:srgbClr val="C412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61704" y="1280160"/>
            <a:ext cx="23317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100" b="1" i="0">
                <a:solidFill>
                  <a:srgbClr val="161A23"/>
                </a:solidFill>
                <a:latin typeface="Aptos"/>
              </a:rPr>
              <a:t>Manuscript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1704" y="1554480"/>
            <a:ext cx="233172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 i="0">
                <a:solidFill>
                  <a:srgbClr val="C41230"/>
                </a:solidFill>
                <a:latin typeface="Aptos"/>
              </a:rPr>
              <a:t>Future Internet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61704" y="2011680"/>
            <a:ext cx="23317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950" b="0" i="0">
                <a:solidFill>
                  <a:srgbClr val="5B6673"/>
                </a:solidFill>
                <a:latin typeface="Aptos"/>
              </a:rPr>
              <a:t>submitted; under peer review refresh</a:t>
            </a:r>
          </a:p>
        </p:txBody>
      </p:sp>
      <p:pic>
        <p:nvPicPr>
          <p:cNvPr id="22" name="Picture 21" descr="live_audit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788920"/>
            <a:ext cx="5303520" cy="3306516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675120" y="2944368"/>
            <a:ext cx="438912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000" b="1" i="0">
                <a:solidFill>
                  <a:srgbClr val="161A23"/>
                </a:solidFill>
                <a:latin typeface="Aptos"/>
              </a:rPr>
              <a:t>Status for the audience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520440"/>
            <a:ext cx="4480560" cy="12344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0" i="0">
                <a:solidFill>
                  <a:srgbClr val="5B6673"/>
                </a:solidFill>
                <a:latin typeface="Aptos"/>
              </a:rPr>
              <a:t>The manuscript/poster abstract still contains older numbers. Today's presentation uses the current local reports: clean XGBoost v2, n=800 GPT-4o-mini evaluation, Windows enrichment, and 5-scenario MITRE validation.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5074920"/>
            <a:ext cx="4480560" cy="50292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500" b="1" i="0">
                <a:solidFill>
                  <a:srgbClr val="0E1B2A"/>
                </a:solidFill>
                <a:latin typeface="Aptos"/>
              </a:rPr>
              <a:t>This is a research-in-progress revision, not a production certification claim.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50" b="0" i="0">
                <a:solidFill>
                  <a:srgbClr val="5B6673"/>
                </a:solidFill>
                <a:latin typeface="Aptos"/>
              </a:rPr>
              <a:t>AI-Augmented Compliance Auditing | Research Project Course | Moise Iradukunda Ingabire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01400" y="6473952"/>
            <a:ext cx="6400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 i="0">
                <a:solidFill>
                  <a:srgbClr val="5B6673"/>
                </a:solidFill>
                <a:latin typeface="Aptos"/>
              </a:rPr>
              <a:t>14/15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841248"/>
          </a:xfrm>
          <a:prstGeom prst="rect">
            <a:avLst/>
          </a:prstGeom>
          <a:solidFill>
            <a:srgbClr val="0E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41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"/>
            <a:ext cx="960120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Aptos"/>
              </a:rPr>
              <a:t>Future improvements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" y="530352"/>
            <a:ext cx="9875520" cy="22860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1050" b="0" i="0">
                <a:solidFill>
                  <a:srgbClr val="B9C7D8"/>
                </a:solidFill>
                <a:latin typeface="Aptos"/>
              </a:rPr>
              <a:t>From Rwanda NCSA pilot to model-agnostic African compliance infrastructure.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143000"/>
          <a:ext cx="10835640" cy="3794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17820"/>
                <a:gridCol w="5417820"/>
              </a:tblGrid>
              <a:tr h="63246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tos"/>
                        </a:rPr>
                        <a:t>Horizon</a:t>
                      </a:r>
                    </a:p>
                  </a:txBody>
                  <a:tcPr>
                    <a:solidFill>
                      <a:srgbClr val="0E1B2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Aptos"/>
                        </a:rPr>
                        <a:t>Work planned</a:t>
                      </a:r>
                    </a:p>
                  </a:txBody>
                  <a:tcPr>
                    <a:solidFill>
                      <a:srgbClr val="0E1B2A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Short term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Refresh manuscript results; add supplementary tables; finish reviewer responses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Pilot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Validate on production logs from 2-3 Rwandan institutions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Frontier models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Provider-agnostic adapters for Claude Opus, Gemini, GPT-class, Mistral, Mythos-style models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On-premise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Fine-tune Llama/Mistral-family models for data-sovereignty settings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324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Pan-African path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61A23"/>
                          </a:solidFill>
                          <a:latin typeface="Aptos"/>
                        </a:rPr>
                        <a:t>Map Rwanda NCSA to ISO 27001, NIST SP 800-53, Kenya, Nigeria, and Malabo-aligned frameworks</a:t>
                      </a:r>
                    </a:p>
                  </a:txBody>
                  <a:tcPr>
                    <a:solidFill>
                      <a:srgbClr val="F7F9FB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14400" y="5440680"/>
            <a:ext cx="10241280" cy="32004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800" b="1" i="0">
                <a:solidFill>
                  <a:srgbClr val="161A23"/>
                </a:solidFill>
                <a:latin typeface="Aptos"/>
              </a:rPr>
              <a:t>Closing 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5833872"/>
            <a:ext cx="10149840" cy="411480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ctr"/>
            <a:r>
              <a:rPr sz="1500" b="1" i="0">
                <a:solidFill>
                  <a:srgbClr val="0E1B2A"/>
                </a:solidFill>
                <a:latin typeface="Aptos"/>
              </a:rPr>
              <a:t>The long-term vision is not one model or one country: it is a modular compliance-auditing reference architecture for resource-constrained African institutions.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510528"/>
            <a:ext cx="84124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l"/>
            <a:r>
              <a:rPr sz="850" b="0" i="0">
                <a:solidFill>
                  <a:srgbClr val="5B6673"/>
                </a:solidFill>
                <a:latin typeface="Aptos"/>
              </a:rPr>
              <a:t>AI-Augmented Compliance Auditing | Research Project Course | Moise Iradukunda Ingabire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640080" cy="201168"/>
          </a:xfrm>
          <a:prstGeom prst="rect">
            <a:avLst/>
          </a:prstGeom>
          <a:noFill/>
        </p:spPr>
        <p:txBody>
          <a:bodyPr wrap="square" lIns="36576" rIns="36576" anchor="t">
            <a:spAutoFit/>
          </a:bodyPr>
          <a:lstStyle/>
          <a:p>
            <a:pPr algn="r"/>
            <a:r>
              <a:rPr sz="900" b="0" i="0">
                <a:solidFill>
                  <a:srgbClr val="5B6673"/>
                </a:solidFill>
                <a:latin typeface="Aptos"/>
              </a:rPr>
              <a:t>15/15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